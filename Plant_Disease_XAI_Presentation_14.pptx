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99fbf5b-1402-4486-ac95-1bb74cd6d199}">
          <p14:sldIdLst>
            <p14:sldId id="256"/>
            <p14:sldId id="257"/>
            <p14:sldId id="258"/>
          </p14:sldIdLst>
        </p14:section>
        <p14:section name="Methodology" id="{da4c3070-5a1d-5ff3-d8f8-5af29f98f87a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aaa21b33-910b-70ed-b9a3-47df90bdd3ac}">
          <p14:sldIdLst>
            <p14:sldId id="264"/>
            <p14:sldId id="265"/>
            <p14:sldId id="266"/>
            <p14:sldId id="267"/>
          </p14:sldIdLst>
        </p14:section>
        <p14:section name="Conclusion" id="{fc21563a-3b72-481d-a1c0-d17dd514ad48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A22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A22"/>
                </a:solidFill>
                <a:latin typeface="+mn-lt"/>
              </a:rPr>
              <a:t>Lab test accuracy (%) · axis starts at 98%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99.23</c:v>
                </c:pt>
                <c:pt idx="1">
                  <c:v>99.82</c:v>
                </c:pt>
                <c:pt idx="2">
                  <c:v>99.85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BG-Suppress</c:v>
                </c:pt>
              </c:strCache>
            </c:strRef>
          </c:tx>
          <c:spPr>
            <a:solidFill>
              <a:srgbClr val="1E56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99.19</c:v>
                </c:pt>
                <c:pt idx="1">
                  <c:v>99.6</c:v>
                </c:pt>
                <c:pt idx="2">
                  <c:v>99.49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1F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A22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A22"/>
                </a:solidFill>
                <a:latin typeface="+mn-lt"/>
              </a:rPr>
              <a:t>Lesion Focus Score (1.0 = all attention on leaf)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0.905</c:v>
                </c:pt>
                <c:pt idx="1">
                  <c:v>0.839</c:v>
                </c:pt>
                <c:pt idx="2">
                  <c:v>0.602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BG-Suppress</c:v>
                </c:pt>
              </c:strCache>
            </c:strRef>
          </c:tx>
          <c:spPr>
            <a:solidFill>
              <a:srgbClr val="1E56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0.994</c:v>
                </c:pt>
                <c:pt idx="1">
                  <c:v>0.985</c:v>
                </c:pt>
                <c:pt idx="2">
                  <c:v>0.981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1F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320040"/>
            <a:ext cx="237744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48840"/>
            <a:ext cx="12188952" cy="1737360"/>
          </a:xfrm>
          <a:prstGeom prst="rect">
            <a:avLst/>
          </a:prstGeom>
          <a:solidFill>
            <a:srgbClr val="EEF5EF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Audit of Plant Disease Classifiers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19456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Shortcut Learning with Grad-CAM and a Background-Suppression Training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333756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862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Narendra Mulik  (2417022)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Smruti Abhijit Shinde  (2417029)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Sanjay Chendake  (2417033)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333756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3886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Prerna P. Nayakal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Ashvini Sandip Patil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8064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(AIML) Engineering  ·  Rajarambapu Institute of Technology, Rajaramnagar  ·  2026-27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Lab vs. Farm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lab photos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2103120"/>
            <a:ext cx="411480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13258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2468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real farm photos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417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model looking at the disease, or at the background?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Shortcut learning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Lab photo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background, same setup per class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090672" y="4663440"/>
            <a:ext cx="338328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40690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learns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 an easy clue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98464" y="4663440"/>
            <a:ext cx="338328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40690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Shortcut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from background, not disease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06256" y="4663440"/>
            <a:ext cx="338328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2016" y="40690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3456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Farm photo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409176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background, clue fails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PS5: Use Grad-CAM to show whether models look at the lesion or the background, and propose a background-suppression training strategy.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Research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350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deep learning models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each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04288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68880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267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where models look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670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→ Lesion Focus Score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236976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01568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background shortcut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Leaf-removed and background-swap tests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169664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334256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with BG-Suppress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5354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training strategy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5102352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266944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50657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farm photos</a:t>
            </a:r>
            <a:endParaRPr lang="en-US" sz="21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5468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PlantDoc images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446520" y="132588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67512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work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667512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lab accuracy reported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shown as a few pictures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drop on field photos found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 on accuracy only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446520" y="374904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67512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adds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6675120" y="4297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measured as a number (LFS)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proven with counterfactual tests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fix: BG-Suppress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vs. transformer background reliance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18,155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tomato images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9 diseases + healthy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farm photos (PlantDoc), test only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7744968" cy="731520"/>
          </a:xfrm>
          <a:prstGeom prst="rect">
            <a:avLst/>
          </a:prstGeom>
          <a:solidFill>
            <a:srgbClr val="1E56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7744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· 12,708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93608" y="4480560"/>
            <a:ext cx="1659636" cy="731520"/>
          </a:xfrm>
          <a:prstGeom prst="rect">
            <a:avLst/>
          </a:prstGeom>
          <a:solidFill>
            <a:srgbClr val="4A7C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4480560"/>
            <a:ext cx="1659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 · 2,723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953244" y="4480560"/>
            <a:ext cx="1659636" cy="731520"/>
          </a:xfrm>
          <a:prstGeom prst="rect">
            <a:avLst/>
          </a:prstGeom>
          <a:solidFill>
            <a:srgbClr val="E8A3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53244" y="4480560"/>
            <a:ext cx="1659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 · 2,724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masks were made from the segmented copy of each image, so we know which pixels are leaf and which are background.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leaf masks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904488" y="2084832"/>
            <a:ext cx="603504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30 epochs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BG-Suppress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53528" y="2084832"/>
            <a:ext cx="603504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ViT-S/16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41080" y="3291840"/>
            <a:ext cx="411480" cy="548640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trained model is tested 4 ways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4008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64992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456432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audit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Focus Score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1344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272784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tests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318504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removed / background swapped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97696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9089136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34856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farm photos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farm photos are never used for training.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Experimental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74720" cy="2788920"/>
          </a:xfrm>
          <a:prstGeom prst="roundRect">
            <a:avLst>
              <a:gd name="adj" fmla="val 393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01952" y="146304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16495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CNN · 25.6M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connections; the most used backbone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325880"/>
            <a:ext cx="3474720" cy="2788920"/>
          </a:xfrm>
          <a:prstGeom prst="roundRect">
            <a:avLst>
              <a:gd name="adj" fmla="val 393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50992" y="146304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30" y="16495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· 5.3M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fast; suited to phones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46720" y="1325880"/>
            <a:ext cx="3474720" cy="2788920"/>
          </a:xfrm>
          <a:prstGeom prst="roundRect">
            <a:avLst>
              <a:gd name="adj" fmla="val 393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00032" y="146304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570" y="164957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3816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ViT-S/16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· 22M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patches + self-attention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53176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5060 GPU, 8 GB</a:t>
            </a:r>
            <a:endParaRPr lang="en-US" sz="1900" dirty="0"/>
          </a:p>
        </p:txBody>
      </p:sp>
      <p:sp>
        <p:nvSpPr>
          <p:cNvPr id="24" name="Shape 18"/>
          <p:cNvSpPr/>
          <p:nvPr/>
        </p:nvSpPr>
        <p:spPr>
          <a:xfrm>
            <a:off x="6172200" y="4389120"/>
            <a:ext cx="594360" cy="5943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846" y="453176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4944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PyTorch 2.11, timm</a:t>
            </a:r>
            <a:endParaRPr lang="en-US" sz="1900" dirty="0"/>
          </a:p>
        </p:txBody>
      </p:sp>
      <p:sp>
        <p:nvSpPr>
          <p:cNvPr id="27" name="Shape 20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5309006"/>
            <a:ext cx="309067" cy="309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2588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· batch 32 · AdamW</a:t>
            </a:r>
            <a:endParaRPr lang="en-US" sz="1900" dirty="0"/>
          </a:p>
        </p:txBody>
      </p:sp>
      <p:sp>
        <p:nvSpPr>
          <p:cNvPr id="30" name="Shape 22"/>
          <p:cNvSpPr/>
          <p:nvPr/>
        </p:nvSpPr>
        <p:spPr>
          <a:xfrm>
            <a:off x="6172200" y="5166360"/>
            <a:ext cx="594360" cy="5943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846" y="5309006"/>
            <a:ext cx="309067" cy="30906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4944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validation-F1 checkpoint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runs = 3 models × 2 modes (Baseline, BG-Suppress) · ImageNet-pretrained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and Lesion Focus Score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which pixels the model used for its answer.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LFS = heat on leaf ÷ total heat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leaf mask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690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all attention on the leaf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attention spread randomly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tests: remove the leaf, or paste it on another class's background, and see if the answer changes.</a:t>
            </a:r>
            <a:endParaRPr lang="en-US" sz="1800" dirty="0"/>
          </a:p>
        </p:txBody>
      </p:sp>
      <p:pic>
        <p:nvPicPr>
          <p:cNvPr id="9" name="Image 0" descr="gradcam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325880"/>
            <a:ext cx="4572000" cy="4526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output from our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Method: BG-Suppress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7867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 randomisation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training images get a random new background, so the background stops being a useful clue.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6400800" y="13716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600200"/>
            <a:ext cx="777240" cy="7772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658" y="17867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Attention-alignment loss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606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penalty when Grad-CAM attention falls outside the leaf mask tells the model: look at the leaf.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194560" y="493776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E563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194560" y="4937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Cross-entropy + λ × Alignment loss   (λ = 1)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 Accurate, but Using the Background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3093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178040" y="1325880"/>
            <a:ext cx="4434840" cy="1371600"/>
          </a:xfrm>
          <a:prstGeom prst="roundRect">
            <a:avLst>
              <a:gd name="adj" fmla="val 8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269480" y="1325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22–28%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1417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with NO leaf at all (guessing = 10%)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78040" y="2880360"/>
            <a:ext cx="4434840" cy="1371600"/>
          </a:xfrm>
          <a:prstGeom prst="roundRect">
            <a:avLst>
              <a:gd name="adj" fmla="val 8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880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 pts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the background is swapped (ViT)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8040" y="4434840"/>
            <a:ext cx="4434840" cy="1371600"/>
          </a:xfrm>
          <a:prstGeom prst="roundRect">
            <a:avLst>
              <a:gd name="adj" fmla="val 8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44348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4526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leaf focus: close to random (0.52)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BG-Suppress costs ≤ 0.37 points of lab accuracy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BG-Suppress Moves Attention onto the Leaf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600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0.98–0.99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focus for all 3 models after BG-Suppress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384048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3977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0.3 pts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swapped backgrounds (was up to 13.8)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After: Grad-CAM</a:t>
            </a:r>
            <a:endParaRPr lang="en-US" sz="3600" dirty="0"/>
          </a:p>
        </p:txBody>
      </p:sp>
      <p:pic>
        <p:nvPicPr>
          <p:cNvPr id="3" name="Image 0" descr="gradcam_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6459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spreads onto the background and corners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BG-Suppress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stays on the leaf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5120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Grad-CAM maps from our ViT-S/16 models; number = Lesion Focus 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Test and Model Comparison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783080"/>
                <a:gridCol w="1783080"/>
                <a:gridCol w="17830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ViT-S/16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accuracy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99.23%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99.82%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99.85%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 accuracy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95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95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95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focus: before → after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 → 0.99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 → 0.99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→ 0.98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 gap: before → after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→ 0.1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→ 0.3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 → 0.3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shortcut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model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gain from fix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32588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417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25–29%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2423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accuracy, with or without BG-Suppress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photos also differ in zoom, light, blur and number of leaves.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= Baseline → BG-Suppress; gap in percentage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441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lab accuracy can hide cheating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83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partly used the background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269016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4871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BG-Suppress removes the shortcut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26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focus 0.98–0.99, almost no accuracy cost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8331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6301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069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most accurate, most background-reliant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497616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7731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accuracy needs more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212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 one of several differences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635240" y="1325880"/>
            <a:ext cx="3977640" cy="4617720"/>
          </a:xfrm>
          <a:prstGeom prst="roundRect">
            <a:avLst>
              <a:gd name="adj" fmla="val 2759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8638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7863840" y="2103120"/>
            <a:ext cx="548640" cy="5486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859536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more seeds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863840" y="3035808"/>
            <a:ext cx="548640" cy="5486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86384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8595360" y="29900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farm photos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863840" y="3968496"/>
            <a:ext cx="548640" cy="5486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8638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595360" y="392277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lesion, not the whole leaf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7863840" y="4901184"/>
            <a:ext cx="548640" cy="5486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863840" y="4901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8595360" y="48554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EfficientNet-B0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Narendra Mulik  ·  Smruti Abhijit Shinde  ·  Atharv Sanjay Chendake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Guides: Prof. Prerna P. Nayakal  ·  Prof. Ashvini Sandip Patil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846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al., Front. Plant Sci., 2016  ·  Singh et al., PlantDoc, CoDS-COMAD, 2020  ·  Selvaraju et al., Grad-CAM, ICCV, 2017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Geirhos et al., Shortcut learning, Nature Mach. Intell., 2020  ·  Xiao et al., Image backgrounds, ICLR, 2021  ·  Noyan, PlantVillage bias, arXiv, 2022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 Audit">
  <a:themeElements>
    <a:clrScheme name="Leaf Audit">
      <a:dk1>
        <a:srgbClr val="1F2A22"/>
      </a:dk1>
      <a:lt1>
        <a:srgbClr val="FFFFFF"/>
      </a:lt1>
      <a:dk2>
        <a:srgbClr val="1E5631"/>
      </a:dk2>
      <a:lt2>
        <a:srgbClr val="EEF5EF"/>
      </a:lt2>
      <a:accent1>
        <a:srgbClr val="1E5631"/>
      </a:accent1>
      <a:accent2>
        <a:srgbClr val="D9531E"/>
      </a:accent2>
      <a:accent3>
        <a:srgbClr val="E8A317"/>
      </a:accent3>
      <a:accent4>
        <a:srgbClr val="4A7C59"/>
      </a:accent4>
      <a:accent5>
        <a:srgbClr val="8AA399"/>
      </a:accent5>
      <a:accent6>
        <a:srgbClr val="5B6770"/>
      </a:accent6>
      <a:hlink>
        <a:srgbClr val="1E5631"/>
      </a:hlink>
      <a:folHlink>
        <a:srgbClr val="4A7C59"/>
      </a:folHlink>
    </a:clrScheme>
    <a:fontScheme name="Leaf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Explainability Audit of Plant Disease Classifiers</dc:title>
  <dc:subject>PptxGenJS Presentation</dc:subject>
  <dc:creator>Amogh Narendra Mulik, Smruti Abhijit Shinde, Atharv Sanjay Chendake</dc:creator>
  <cp:lastModifiedBy>Amogh Narendra Mulik, Smruti Abhijit Shinde, Atharv Sanjay Chendake</cp:lastModifiedBy>
  <cp:revision>1</cp:revision>
  <dcterms:created xsi:type="dcterms:W3CDTF">2026-10-11T12:09:55Z</dcterms:created>
  <dcterms:modified xsi:type="dcterms:W3CDTF">2026-10-11T12:09:55Z</dcterms:modified>
</cp:coreProperties>
</file>