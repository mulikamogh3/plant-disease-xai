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c6b4fc2-366b-20b3-e8cf-46cd3c27528b}">
          <p14:sldIdLst>
            <p14:sldId id="256"/>
            <p14:sldId id="257"/>
            <p14:sldId id="258"/>
            <p14:sldId id="259"/>
            <p14:sldId id="260"/>
          </p14:sldIdLst>
        </p14:section>
        <p14:section name="Methodology" id="{b8d81847-317e-7667-5495-37cc177f4791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sults" id="{ff186898-d6bb-56b2-6efe-94068591aa53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onclusion" id="{3f0a4dc7-b774-eafd-b03b-a8e4a3941f75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F2A22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F2A22"/>
                </a:solidFill>
                <a:latin typeface="+mn-lt"/>
              </a:rPr>
              <a:t>Test accuracy (%) on 2,724 lab images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B67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99.23</c:v>
                </c:pt>
                <c:pt idx="1">
                  <c:v>99.82</c:v>
                </c:pt>
                <c:pt idx="2">
                  <c:v>99.85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BG-Suppress</c:v>
                </c:pt>
              </c:strCache>
            </c:strRef>
          </c:tx>
          <c:spPr>
            <a:solidFill>
              <a:srgbClr val="1E563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99.19</c:v>
                </c:pt>
                <c:pt idx="1">
                  <c:v>99.6</c:v>
                </c:pt>
                <c:pt idx="2">
                  <c:v>99.49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500" u="none">
                  <a:solidFill>
                    <a:srgbClr val="1F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8"/>
        </c:scaling>
        <c:delete val="0"/>
        <c:axPos val="l"/>
        <c:majorGridlines>
          <c:spPr>
            <a:ln w="9525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F2A22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F2A22"/>
                </a:solidFill>
                <a:latin typeface="+mn-lt"/>
              </a:rPr>
              <a:t>Lesion Focus Score (1.0 = all attention on leaf)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B67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0.905</c:v>
                </c:pt>
                <c:pt idx="1">
                  <c:v>0.839</c:v>
                </c:pt>
                <c:pt idx="2">
                  <c:v>0.602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BG-Suppress</c:v>
                </c:pt>
              </c:strCache>
            </c:strRef>
          </c:tx>
          <c:spPr>
            <a:solidFill>
              <a:srgbClr val="1E563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0.994</c:v>
                </c:pt>
                <c:pt idx="1">
                  <c:v>0.985</c:v>
                </c:pt>
                <c:pt idx="2">
                  <c:v>0.981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500" u="none">
                  <a:solidFill>
                    <a:srgbClr val="1F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F2A22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F2A22"/>
                </a:solidFill>
                <a:latin typeface="+mn-lt"/>
              </a:rPr>
              <a:t>Accuracy (%), baseline models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 test</c:v>
                </c:pt>
              </c:strCache>
            </c:strRef>
          </c:tx>
          <c:spPr>
            <a:solidFill>
              <a:srgbClr val="1E563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99.23</c:v>
                </c:pt>
                <c:pt idx="1">
                  <c:v>99.82</c:v>
                </c:pt>
                <c:pt idx="2">
                  <c:v>99.85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Farm photos (PlantDoc)</c:v>
                </c:pt>
              </c:strCache>
            </c:strRef>
          </c:tx>
          <c:spPr>
            <a:solidFill>
              <a:srgbClr val="D953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F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EfficientNet-B0</c:v>
                  </c:pt>
                  <c:pt idx="2">
                    <c:v>ViT-S/16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28.63</c:v>
                </c:pt>
                <c:pt idx="1">
                  <c:v>25.27</c:v>
                </c:pt>
                <c:pt idx="2">
                  <c:v>26.48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500" u="none">
                  <a:solidFill>
                    <a:srgbClr val="1F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320040"/>
            <a:ext cx="237744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18872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74320"/>
            <a:ext cx="118872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48840"/>
            <a:ext cx="12188952" cy="1737360"/>
          </a:xfrm>
          <a:prstGeom prst="rect">
            <a:avLst/>
          </a:prstGeom>
          <a:solidFill>
            <a:srgbClr val="EEF5EF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Audit of Plant Disease Classifiers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19456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Shortcut Learning with Grad-CAM and a Background-Suppression Training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3337560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8862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Amogh Narendra Mulik  (2417022)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Smruti Abhijit Shinde  (2417029)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 Sanjay Chendake  (2417033)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3337560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3886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Prerna P. Nayakal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Ashvini Sandip Patil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8064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(AIML) Engineering  ·  Rajarambapu Institute of Technology, Rajaramnagar  ·  2026-27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detect tomato leaf diseases almost perfectly in the lab, but fail on real farm photos.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6060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99%+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23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lab images (PlantVillage)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897880" y="3611880"/>
            <a:ext cx="411480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242316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6060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~27%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4023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real farm photos (PlantDoc)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the model looking at the disease, or at the background?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 Shortcut Learning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35608" y="2057400"/>
            <a:ext cx="685800" cy="6858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35608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photo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on a plain background, same setup per class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54096" y="3108960"/>
            <a:ext cx="365760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6432" y="182880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057400"/>
            <a:ext cx="685800" cy="6858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429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colour and lighting are easy clues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61888" y="3108960"/>
            <a:ext cx="365760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82880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51192" y="2057400"/>
            <a:ext cx="685800" cy="68580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51192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47104" y="3429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from the background, not the disease spots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69680" y="3108960"/>
            <a:ext cx="365760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16" y="182880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58984" y="2057400"/>
            <a:ext cx="685800" cy="68580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58984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409176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photo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454896" y="34290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background, so the clue fails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PS5: Use Grad-CAM to show whether models look at the lesion or the background, and propose a background-suppression training strategy.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54716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35331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deep learning models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77393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ResNet-50, EfficientNet-B0, ViT-S/16 · 30 epochs each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731520" cy="73152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250728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31343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where models look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73405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→ Lesion Focus Score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3291840"/>
            <a:ext cx="731520" cy="73152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346740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27355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background shortcut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369417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Background-only and background-swap tests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31520" y="4251960"/>
            <a:ext cx="731520" cy="73152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5" y="442752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91640" y="423367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with BG-Suppress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1691640" y="465429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background-suppression training strategy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31520" y="5212080"/>
            <a:ext cx="731520" cy="73152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5" y="538764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1640" y="519379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farm photos</a:t>
            </a:r>
            <a:endParaRPr lang="en-US" sz="2400" dirty="0"/>
          </a:p>
        </p:txBody>
      </p:sp>
      <p:sp>
        <p:nvSpPr>
          <p:cNvPr id="22" name="Text 15"/>
          <p:cNvSpPr txBox="1"/>
          <p:nvPr/>
        </p:nvSpPr>
        <p:spPr>
          <a:xfrm>
            <a:off x="1691640" y="561441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 PlantDoc field images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earlier work did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99%+ lab accuracy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a few Grad-CAM pictures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big drop on field photos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accuracy only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adds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1945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measured as a number (LFS)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proven with counterfactual tests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fix: BG-Suppress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vs. transformer background reliance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 →  Prove  →  Fix  →  Test in the field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18,155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tomato images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508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9 diseases + healthy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508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744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farm photos (PlantDoc), test only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7744968" cy="731520"/>
          </a:xfrm>
          <a:prstGeom prst="rect">
            <a:avLst/>
          </a:prstGeom>
          <a:solidFill>
            <a:srgbClr val="1E563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80560"/>
            <a:ext cx="7744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 · 12,708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93608" y="4480560"/>
            <a:ext cx="1659636" cy="731520"/>
          </a:xfrm>
          <a:prstGeom prst="rect">
            <a:avLst/>
          </a:prstGeom>
          <a:solidFill>
            <a:srgbClr val="4A7C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4480560"/>
            <a:ext cx="1659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 · 2,723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953244" y="4480560"/>
            <a:ext cx="1659636" cy="731520"/>
          </a:xfrm>
          <a:prstGeom prst="rect">
            <a:avLst/>
          </a:prstGeom>
          <a:solidFill>
            <a:srgbClr val="E8A3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53244" y="4480560"/>
            <a:ext cx="1659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 · 2,724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masks were made from the segmented copy of each image, so we know which pixels are leaf and which are background.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+ leaf masks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split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904488" y="2084832"/>
            <a:ext cx="603504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37160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30 epochs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9385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BG-Suppress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53528" y="2084832"/>
            <a:ext cx="603504" cy="41148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137160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19385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ViT-S/16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41080" y="3291840"/>
            <a:ext cx="411480" cy="548640"/>
          </a:xfrm>
          <a:prstGeom prst="down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29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trained model is tested 4 ways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9050">
            <a:solidFill>
              <a:srgbClr val="1E5631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4008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617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64992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9050">
            <a:solidFill>
              <a:srgbClr val="1E563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3456432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audit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4617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Focus Score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81344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9050">
            <a:solidFill>
              <a:srgbClr val="1E563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6272784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tests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318504" y="4617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removed / background swapped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97696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97696" y="3977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9050">
            <a:solidFill>
              <a:srgbClr val="1E563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9089136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134856" y="4617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 farm photos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PlantDoc farm photos are never used for training.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Models Compared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160020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030" y="17977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CNN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25.6M parameters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062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let a deep network train well. The most used backbone.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23560" y="160020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070" y="17977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8912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38912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5.3M parameters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2062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fast. Suited to mobile phones.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72600" y="160020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10" y="1797710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3816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ViT-S/16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13816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13816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parameters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42062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image into 16×16 patches and uses self-attention.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start from ImageNet weights (timm) with a 10-class output layer.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 and Lesion Focus Score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shows which pixels the model used for its answer.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LFS = heat on leaf ÷ total heat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leaf mask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690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all attention on the leaf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attention spread randomly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120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tests: remove the leaf, or paste it on another class's background, and see if the answer changes.</a:t>
            </a:r>
            <a:endParaRPr lang="en-US" sz="1800" dirty="0"/>
          </a:p>
        </p:txBody>
      </p:sp>
      <p:pic>
        <p:nvPicPr>
          <p:cNvPr id="9" name="Image 0" descr="gradcam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325880"/>
            <a:ext cx="4572000" cy="45262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40880" y="5897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output from our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Method: BG-Suppress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777240" cy="7772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7867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45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Background randomisation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training images get a random new background, so the background stops being a useful clue.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5146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6400800" y="137160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600200"/>
            <a:ext cx="777240" cy="77724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658" y="17867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3524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Attention-alignment loss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6060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penalty when Grad-CAM attention falls outside the leaf mask tells the model: look at the leaf.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2194560" y="4937760"/>
            <a:ext cx="7772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194560" y="4937760"/>
            <a:ext cx="7772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1E563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94560" y="4937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= Cross-entropy + λ × Alignment loss   (λ = 1)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20240"/>
            <a:ext cx="914400" cy="9144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396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331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5060 Laptop GPU, 8 GB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920240"/>
            <a:ext cx="914400" cy="9144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13969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331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PyTorch 2.11, timm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114800"/>
            <a:ext cx="914400" cy="9144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33425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4526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epochs, batch 32, AdamW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172200" y="36118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4114800"/>
            <a:ext cx="914400" cy="91440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334256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526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macro-F1 checkpoint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52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runs in total: 3 models × 2 training modes (Baseline, BG-Suppress)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Accuracy: All Models Above 99%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6304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6002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0.37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lost by BG-Suppress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9319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accuracy alone cannot tell the models apart, or show whether they cheat.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5669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98%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Shortcut Is Real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22–28%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with NO leaf at all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(guessing = 10%)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 pts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lost when the background is swapped (ViT)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5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leaf focus score: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random (0.52)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baseline models partly use the background. The transformer (ViT) relies on it the most.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BG-Suppress Moves Attention onto the Leaf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6304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6002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0.98–0.99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focus for all 3 models after BG-Suppress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0" y="384048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3977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0.3 pts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lost on swapped backgrounds (was up to 13.8)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After: Grad-CAM</a:t>
            </a:r>
            <a:endParaRPr lang="en-US" sz="3600" dirty="0"/>
          </a:p>
        </p:txBody>
      </p:sp>
      <p:pic>
        <p:nvPicPr>
          <p:cNvPr id="3" name="Image 0" descr="gradcam_b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949440" cy="4663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863840" y="16459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training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spreads onto the background and corners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BG-Suppress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stays on the leaf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5120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Grad-CAM maps from our ViT-S/16 models; number = Lesion Focus Score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Test: Lab vs. Farm Photos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6304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6002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25–29%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accuracy, with or without BG-Suppress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8862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photos also differ in zoom, light, blur and number of leaves. Background is only one of the problems.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the 3 Models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560320"/>
                <a:gridCol w="2560320"/>
                <a:gridCol w="256032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ViT-S/16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accuracy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99.23%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99.82%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99.85%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focus: before → after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 → 0.99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 → 0.99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 → 0.98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 gap: before → after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→ 0.1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→ 0.3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 → 0.3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accuracy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E5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shortcut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model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gain from fix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= Baseline → BG-Suppress. Shortcut gap in percentage 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822960" cy="82296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56911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13533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lab accuracy can hide cheating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828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models partly used the background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1520" y="251460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" y="271211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4963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BG-Suppress removes the shortcut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2971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focus 0.98–0.99, almost no accuracy cost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31520" y="365760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85511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828800" y="36393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not enough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1828800" y="4114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was most accurate but most background-reliant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731520" y="4800600"/>
            <a:ext cx="822960" cy="82296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499811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828800" y="478231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accuracy needs more</a:t>
            </a:r>
            <a:endParaRPr lang="en-US" sz="2600" dirty="0"/>
          </a:p>
        </p:txBody>
      </p:sp>
      <p:sp>
        <p:nvSpPr>
          <p:cNvPr id="18" name="Text 12"/>
          <p:cNvSpPr txBox="1"/>
          <p:nvPr/>
        </p:nvSpPr>
        <p:spPr>
          <a:xfrm>
            <a:off x="1828800" y="5257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is one of several differences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more seeds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423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small differences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farm photos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423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field images to training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251960"/>
            <a:ext cx="777240" cy="777240"/>
          </a:xfrm>
          <a:prstGeom prst="ellipse">
            <a:avLst/>
          </a:prstGeom>
          <a:solidFill>
            <a:srgbClr val="D9531E"/>
          </a:solidFill>
          <a:ln w="12700">
            <a:solidFill>
              <a:srgbClr val="D953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069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lesion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663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lesion-level masks, not whole leaf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51960"/>
            <a:ext cx="777240" cy="77724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4069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663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EfficientNet-B0 on a phone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74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et al., Using deep learning for image-based plant disease detection, Front. Plant Sci., 2016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al., PlantDoc: A dataset for visual plant disease detection, CoDS-COMAD, 2020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 et al., Grad-CAM: Visual explanations from deep networks, ICCV, 2017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Geirhos et al., Shortcut learning in deep neural networks, Nature Mach. Intell., 2020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et al., Noise or signal: The role of image backgrounds in object recognition, ICLR, 2021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Noyan, Uncovering bias in the PlantVillage dataset, arXiv, 2022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5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Amogh Narendra Mulik  ·  Smruti Abhijit Shinde  ·  Atharv Sanjay Chendake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Guides: Prof. Prerna P. Nayakal  ·  Prof. Ashvini Sandip Patil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f Audit">
  <a:themeElements>
    <a:clrScheme name="Leaf Audit">
      <a:dk1>
        <a:srgbClr val="1F2A22"/>
      </a:dk1>
      <a:lt1>
        <a:srgbClr val="FFFFFF"/>
      </a:lt1>
      <a:dk2>
        <a:srgbClr val="1E5631"/>
      </a:dk2>
      <a:lt2>
        <a:srgbClr val="EEF5EF"/>
      </a:lt2>
      <a:accent1>
        <a:srgbClr val="1E5631"/>
      </a:accent1>
      <a:accent2>
        <a:srgbClr val="D9531E"/>
      </a:accent2>
      <a:accent3>
        <a:srgbClr val="E8A317"/>
      </a:accent3>
      <a:accent4>
        <a:srgbClr val="4A7C59"/>
      </a:accent4>
      <a:accent5>
        <a:srgbClr val="8AA399"/>
      </a:accent5>
      <a:accent6>
        <a:srgbClr val="5B6770"/>
      </a:accent6>
      <a:hlink>
        <a:srgbClr val="1E5631"/>
      </a:hlink>
      <a:folHlink>
        <a:srgbClr val="4A7C59"/>
      </a:folHlink>
    </a:clrScheme>
    <a:fontScheme name="Leaf 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Explainability Audit of Plant Disease Classifiers</dc:title>
  <dc:subject>PptxGenJS Presentation</dc:subject>
  <dc:creator>Amogh Narendra Mulik, Smruti Abhijit Shinde, Atharv Sanjay Chendake</dc:creator>
  <cp:lastModifiedBy>Amogh Narendra Mulik, Smruti Abhijit Shinde, Atharv Sanjay Chendake</cp:lastModifiedBy>
  <cp:revision>1</cp:revision>
  <dcterms:created xsi:type="dcterms:W3CDTF">2026-10-11T12:03:07Z</dcterms:created>
  <dcterms:modified xsi:type="dcterms:W3CDTF">2026-10-11T12:03:07Z</dcterms:modified>
</cp:coreProperties>
</file>